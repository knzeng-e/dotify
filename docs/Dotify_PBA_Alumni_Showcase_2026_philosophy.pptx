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f23e43b5424c68" /><Relationship Type="http://schemas.openxmlformats.org/officeDocument/2006/relationships/extended-properties" Target="/docProps/app.xml" Id="R5530c4e0a2df4044" /><Relationship Type="http://schemas.openxmlformats.org/officeDocument/2006/relationships/officeDocument" Target="/ppt/presentation.xml" Id="R854a15e5149a4e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e56e0d20c44875"/>
  </p:sldMasterIdLst>
  <p:notesMasterIdLst>
    <p:notesMasterId xmlns:r="http://schemas.openxmlformats.org/officeDocument/2006/relationships" r:id="R6d34528707fc4ae0"/>
  </p:notesMasterIdLst>
  <p:sldIdLst>
    <p:sldId xmlns:r="http://schemas.openxmlformats.org/officeDocument/2006/relationships" id="256" r:id="Rc5a02cc3d3cc4d08"/>
    <p:sldId xmlns:r="http://schemas.openxmlformats.org/officeDocument/2006/relationships" id="257" r:id="R2871b5d756f0454b"/>
    <p:sldId xmlns:r="http://schemas.openxmlformats.org/officeDocument/2006/relationships" id="258" r:id="R10cd5ce7a0284cf9"/>
    <p:sldId xmlns:r="http://schemas.openxmlformats.org/officeDocument/2006/relationships" id="259" r:id="Ra4fe946be6f1450b"/>
    <p:sldId xmlns:r="http://schemas.openxmlformats.org/officeDocument/2006/relationships" id="260" r:id="R830af115601042f5"/>
    <p:sldId xmlns:r="http://schemas.openxmlformats.org/officeDocument/2006/relationships" id="261" r:id="R0bd358f807f1469e"/>
    <p:sldId xmlns:r="http://schemas.openxmlformats.org/officeDocument/2006/relationships" id="262" r:id="R5ddcbfc83c354395"/>
    <p:sldId xmlns:r="http://schemas.openxmlformats.org/officeDocument/2006/relationships" id="263" r:id="Rb0139d1e83e54297"/>
  </p:sldIdLst>
  <p:sldSz cx="24384000" cy="1371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834ab49dd94cf3" /><Relationship Type="http://schemas.openxmlformats.org/officeDocument/2006/relationships/slideMaster" Target="/ppt/slideMasters/slideMaster1.xml" Id="R8ce56e0d20c44875" /><Relationship Type="http://schemas.openxmlformats.org/officeDocument/2006/relationships/notesMaster" Target="/ppt/notesMasters/notesMaster1.xml" Id="R6d34528707fc4ae0" /><Relationship Type="http://schemas.openxmlformats.org/officeDocument/2006/relationships/presProps" Target="/ppt/presProps.xml" Id="R5275c44a1e25494f" /><Relationship Type="http://schemas.openxmlformats.org/officeDocument/2006/relationships/tableStyles" Target="/ppt/tableStyles.xml" Id="R3f8e5daaf8cc43a1" /><Relationship Type="http://schemas.openxmlformats.org/officeDocument/2006/relationships/slide" Target="/ppt/slides/slide1.xml" Id="Rc5a02cc3d3cc4d08" /><Relationship Type="http://schemas.openxmlformats.org/officeDocument/2006/relationships/slide" Target="/ppt/slides/slide2.xml" Id="R2871b5d756f0454b" /><Relationship Type="http://schemas.openxmlformats.org/officeDocument/2006/relationships/slide" Target="/ppt/slides/slide3.xml" Id="R10cd5ce7a0284cf9" /><Relationship Type="http://schemas.openxmlformats.org/officeDocument/2006/relationships/slide" Target="/ppt/slides/slide4.xml" Id="Ra4fe946be6f1450b" /><Relationship Type="http://schemas.openxmlformats.org/officeDocument/2006/relationships/slide" Target="/ppt/slides/slide5.xml" Id="R830af115601042f5" /><Relationship Type="http://schemas.openxmlformats.org/officeDocument/2006/relationships/slide" Target="/ppt/slides/slide6.xml" Id="R0bd358f807f1469e" /><Relationship Type="http://schemas.openxmlformats.org/officeDocument/2006/relationships/slide" Target="/ppt/slides/slide7.xml" Id="R5ddcbfc83c354395" /><Relationship Type="http://schemas.openxmlformats.org/officeDocument/2006/relationships/slide" Target="/ppt/slides/slide8.xml" Id="Rb0139d1e83e542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a6367782d1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7ded00ce22476e" /><Relationship Type="http://schemas.openxmlformats.org/officeDocument/2006/relationships/notesMaster" Target="/ppt/notesMasters/notesMaster1.xml" Id="R59af07e13c874d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7dda3c6b0d46c5" /><Relationship Type="http://schemas.openxmlformats.org/officeDocument/2006/relationships/notesMaster" Target="/ppt/notesMasters/notesMaster1.xml" Id="R510e4361a7994b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8b685ce5b64db1" /><Relationship Type="http://schemas.openxmlformats.org/officeDocument/2006/relationships/notesMaster" Target="/ppt/notesMasters/notesMaster1.xml" Id="R99b30d7d619147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e4fa875bed451b" /><Relationship Type="http://schemas.openxmlformats.org/officeDocument/2006/relationships/notesMaster" Target="/ppt/notesMasters/notesMaster1.xml" Id="Rb7d22fdf98214a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0ea291003d48a5" /><Relationship Type="http://schemas.openxmlformats.org/officeDocument/2006/relationships/notesMaster" Target="/ppt/notesMasters/notesMaster1.xml" Id="Rf59b464721d745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bd66ffc2ad4faf" /><Relationship Type="http://schemas.openxmlformats.org/officeDocument/2006/relationships/notesMaster" Target="/ppt/notesMasters/notesMaster1.xml" Id="R6de85948abed4a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d428b6645b4ed5" /><Relationship Type="http://schemas.openxmlformats.org/officeDocument/2006/relationships/notesMaster" Target="/ppt/notesMasters/notesMaster1.xml" Id="R2c7f32988f964f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e1de2fde4e41f9" /><Relationship Type="http://schemas.openxmlformats.org/officeDocument/2006/relationships/notesMaster" Target="/ppt/notesMasters/notesMaster1.xml" Id="R4f7a4bab7a9b40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thesis: Dotify should be introduced as a human and cultural product before any protocol detail.</a:t>
            </a:r>
          </a:p>
          <a:p xmlns:a="http://schemas.openxmlformats.org/drawingml/2006/main">
            <a:r>
              <a:t>The Product DevNet screenshot is used as evidence that this is already a real hosted experience, not only a concept.</a:t>
            </a:r>
          </a:p>
          <a:p xmlns:a="http://schemas.openxmlformats.org/drawingml/2006/main">
            <a:r>
              <a:t>- Screenshot source: /Users/th0t_nzeng/Coding/blockchain/Polkadot/PBP-Lisbon/Presentation/Dotify-screen 2.jpeg.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in this conversation, September 2, 2026.</a:t>
            </a:r>
          </a:p>
          <a:p xmlns:a="http://schemas.openxmlformats.org/drawingml/2006/main">
            <a:r>
              <a:t>- Dotify philosophical north star: docs/context/dotify-philosophical-north-star.md.</a:t>
            </a:r>
          </a:p>
          <a:p xmlns:a="http://schemas.openxmlformats.org/drawingml/2006/main">
            <a:r>
              <a:t>- Dotify product memory: docs/context/dotify-product-memory.md.</a:t>
            </a:r>
          </a:p>
          <a:p xmlns:a="http://schemas.openxmlformats.org/drawingml/2006/main">
            <a:r>
              <a:t>- Dotify technical memory: docs/context/dotify-technical-memory.md.</a:t>
            </a:r>
          </a:p>
          <a:p xmlns:a="http://schemas.openxmlformats.org/drawingml/2006/main">
            <a:r>
              <a:t>- Current project overview: README.md and docs/index.html.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intentionally philosophical and social. It reframes the user's bus/train/public-space observation as the core product problem.</a:t>
            </a:r>
          </a:p>
          <a:p xmlns:a="http://schemas.openxmlformats.org/drawingml/2006/main">
            <a:r>
              <a:t>No statistical loneliness claim is made on-slide because no external data source was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in this conversation, September 2, 2026.</a:t>
            </a:r>
          </a:p>
          <a:p xmlns:a="http://schemas.openxmlformats.org/drawingml/2006/main">
            <a:r>
              <a:t>- Dotify philosophical north star: docs/context/dotify-philosophical-north-star.md.</a:t>
            </a:r>
          </a:p>
          <a:p xmlns:a="http://schemas.openxmlformats.org/drawingml/2006/main">
            <a:r>
              <a:t>- Dotify product memory: docs/context/dotify-product-memory.md.</a:t>
            </a:r>
          </a:p>
          <a:p xmlns:a="http://schemas.openxmlformats.org/drawingml/2006/main">
            <a:r>
              <a:t>- Dotify technical memory: docs/context/dotify-technical-memory.md.</a:t>
            </a:r>
          </a:p>
          <a:p xmlns:a="http://schemas.openxmlformats.org/drawingml/2006/main">
            <a:r>
              <a:t>- Current project overview: README.md and docs/index.html.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uses the rooms view as evidence that Dotify's social core is already represented in the app.</a:t>
            </a:r>
          </a:p>
          <a:p xmlns:a="http://schemas.openxmlformats.org/drawingml/2006/main">
            <a:r>
              <a:t>- Screenshot source: /Users/th0t_nzeng/Desktop/Capture d'écran 2026-08-26 à 11.09.54.png.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in this conversation, September 2, 2026.</a:t>
            </a:r>
          </a:p>
          <a:p xmlns:a="http://schemas.openxmlformats.org/drawingml/2006/main">
            <a:r>
              <a:t>- Dotify philosophical north star: docs/context/dotify-philosophical-north-star.md.</a:t>
            </a:r>
          </a:p>
          <a:p xmlns:a="http://schemas.openxmlformats.org/drawingml/2006/main">
            <a:r>
              <a:t>- Dotify product memory: docs/context/dotify-product-memory.md.</a:t>
            </a:r>
          </a:p>
          <a:p xmlns:a="http://schemas.openxmlformats.org/drawingml/2006/main">
            <a:r>
              <a:t>- Dotify technical memory: docs/context/dotify-technical-memory.md.</a:t>
            </a:r>
          </a:p>
          <a:p xmlns:a="http://schemas.openxmlformats.org/drawingml/2006/main">
            <a:r>
              <a:t>- Current project overview: README.md and docs/index.html.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keeps concrete implementation proof, but avoids exposing internal technology names as the main story.</a:t>
            </a:r>
          </a:p>
          <a:p xmlns:a="http://schemas.openxmlformats.org/drawingml/2006/main">
            <a:r>
              <a:t>- Catalog screenshot source: /Users/th0t_nzeng/Desktop/Capture d'écran 2026-08-26 à 11.04.58.png.</a:t>
            </a:r>
          </a:p>
          <a:p xmlns:a="http://schemas.openxmlformats.org/drawingml/2006/main">
            <a:r>
              <a:t>- Room screenshot source: /Users/th0t_nzeng/Coding/blockchain/Polkadot/PBP-Lisbon/Presentation/Dotify-screen 2.jpeg.</a:t>
            </a:r>
          </a:p>
          <a:p xmlns:a="http://schemas.openxmlformats.org/drawingml/2006/main">
            <a:r>
              <a:t>- Unlock screenshot source: /Users/th0t_nzeng/Desktop/Capture d'écran 2026-08-26 à 11.11.23.png.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in this conversation, September 2, 2026.</a:t>
            </a:r>
          </a:p>
          <a:p xmlns:a="http://schemas.openxmlformats.org/drawingml/2006/main">
            <a:r>
              <a:t>- Dotify philosophical north star: docs/context/dotify-philosophical-north-star.md.</a:t>
            </a:r>
          </a:p>
          <a:p xmlns:a="http://schemas.openxmlformats.org/drawingml/2006/main">
            <a:r>
              <a:t>- Dotify product memory: docs/context/dotify-product-memory.md.</a:t>
            </a:r>
          </a:p>
          <a:p xmlns:a="http://schemas.openxmlformats.org/drawingml/2006/main">
            <a:r>
              <a:t>- Dotify technical memory: docs/context/dotify-technical-memory.md.</a:t>
            </a:r>
          </a:p>
          <a:p xmlns:a="http://schemas.openxmlformats.org/drawingml/2006/main">
            <a:r>
              <a:t>- Current project overview: README.md and docs/index.html.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technical term 'runtime' is kept in notes and used sparingly on-slide as 'smart space' and 'artist-owned runtime'.</a:t>
            </a:r>
          </a:p>
          <a:p xmlns:a="http://schemas.openxmlformats.org/drawingml/2006/main">
            <a:r>
              <a:t>- Artist portal screenshot source: /Users/th0t_nzeng/Bureau - Ancien/Capture d'écran 2026-07-22 à 17.02.12.png.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in this conversation, September 2, 2026.</a:t>
            </a:r>
          </a:p>
          <a:p xmlns:a="http://schemas.openxmlformats.org/drawingml/2006/main">
            <a:r>
              <a:t>- Dotify philosophical north star: docs/context/dotify-philosophical-north-star.md.</a:t>
            </a:r>
          </a:p>
          <a:p xmlns:a="http://schemas.openxmlformats.org/drawingml/2006/main">
            <a:r>
              <a:t>- Dotify product memory: docs/context/dotify-product-memory.md.</a:t>
            </a:r>
          </a:p>
          <a:p xmlns:a="http://schemas.openxmlformats.org/drawingml/2006/main">
            <a:r>
              <a:t>- Dotify technical memory: docs/context/dotify-technical-memory.md.</a:t>
            </a:r>
          </a:p>
          <a:p xmlns:a="http://schemas.openxmlformats.org/drawingml/2006/main">
            <a:r>
              <a:t>- Current project overview: README.md and docs/index.html.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preserves the access model but reframes it as a cultural and ethical design question.</a:t>
            </a:r>
          </a:p>
          <a:p xmlns:a="http://schemas.openxmlformats.org/drawingml/2006/main">
            <a:r>
              <a:t>Human-free access is presented as future path because the current codebase still treats live personhood integration as open.</a:t>
            </a:r>
          </a:p>
          <a:p xmlns:a="http://schemas.openxmlformats.org/drawingml/2006/main">
            <a:r>
              <a:t>- Unlock screenshot source: /Users/th0t_nzeng/Desktop/Capture d'écran 2026-08-26 à 11.11.23.png.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in this conversation, September 2, 2026.</a:t>
            </a:r>
          </a:p>
          <a:p xmlns:a="http://schemas.openxmlformats.org/drawingml/2006/main">
            <a:r>
              <a:t>- Dotify philosophical north star: docs/context/dotify-philosophical-north-star.md.</a:t>
            </a:r>
          </a:p>
          <a:p xmlns:a="http://schemas.openxmlformats.org/drawingml/2006/main">
            <a:r>
              <a:t>- Dotify product memory: docs/context/dotify-product-memory.md.</a:t>
            </a:r>
          </a:p>
          <a:p xmlns:a="http://schemas.openxmlformats.org/drawingml/2006/main">
            <a:r>
              <a:t>- Dotify technical memory: docs/context/dotify-technical-memory.md.</a:t>
            </a:r>
          </a:p>
          <a:p xmlns:a="http://schemas.openxmlformats.org/drawingml/2006/main">
            <a:r>
              <a:t>- Current project overview: README.md and docs/index.html.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keeps Product DevNet in the story but avoids overclaiming. It is an active direction, not the entire product dependency.</a:t>
            </a:r>
          </a:p>
          <a:p xmlns:a="http://schemas.openxmlformats.org/drawingml/2006/main">
            <a:r>
              <a:t>The mobile-host WebRTC limitation is named honestly in notes and summarized as a known boundary.</a:t>
            </a:r>
          </a:p>
          <a:p xmlns:a="http://schemas.openxmlformats.org/drawingml/2006/main">
            <a:r>
              <a:t>- Product DevNet screenshot source: /Users/th0t_nzeng/Coding/blockchain/Polkadot/PBP-Lisbon/Presentation/Dotify-screen 2.jpeg.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in this conversation, September 2, 2026.</a:t>
            </a:r>
          </a:p>
          <a:p xmlns:a="http://schemas.openxmlformats.org/drawingml/2006/main">
            <a:r>
              <a:t>- Dotify philosophical north star: docs/context/dotify-philosophical-north-star.md.</a:t>
            </a:r>
          </a:p>
          <a:p xmlns:a="http://schemas.openxmlformats.org/drawingml/2006/main">
            <a:r>
              <a:t>- Dotify product memory: docs/context/dotify-product-memory.md.</a:t>
            </a:r>
          </a:p>
          <a:p xmlns:a="http://schemas.openxmlformats.org/drawingml/2006/main">
            <a:r>
              <a:t>- Dotify technical memory: docs/context/dotify-technical-memory.md.</a:t>
            </a:r>
          </a:p>
          <a:p xmlns:a="http://schemas.openxmlformats.org/drawingml/2006/main">
            <a:r>
              <a:t>- Current project overview: README.md and docs/index.html.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resolves the opening: Dotify's next steps deepen the public room, Product value flow, human-aware access and cultural transmission.</a:t>
            </a:r>
          </a:p>
          <a:p xmlns:a="http://schemas.openxmlformats.org/drawingml/2006/main">
            <a:r>
              <a:t>The deck intentionally avoids presenting tokenomics or speculative rewards as delivered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request in this conversation, September 2, 2026.</a:t>
            </a:r>
          </a:p>
          <a:p xmlns:a="http://schemas.openxmlformats.org/drawingml/2006/main">
            <a:r>
              <a:t>- Dotify philosophical north star: docs/context/dotify-philosophical-north-star.md.</a:t>
            </a:r>
          </a:p>
          <a:p xmlns:a="http://schemas.openxmlformats.org/drawingml/2006/main">
            <a:r>
              <a:t>- Dotify product memory: docs/context/dotify-product-memory.md.</a:t>
            </a:r>
          </a:p>
          <a:p xmlns:a="http://schemas.openxmlformats.org/drawingml/2006/main">
            <a:r>
              <a:t>- Dotify technical memory: docs/context/dotify-technical-memory.md.</a:t>
            </a:r>
          </a:p>
          <a:p xmlns:a="http://schemas.openxmlformats.org/drawingml/2006/main">
            <a:r>
              <a:t>- Current project overview: README.md and docs/index.html.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64c8f3b274c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e703cdc491476b" /><Relationship Type="http://schemas.openxmlformats.org/officeDocument/2006/relationships/slideLayout" Target="/ppt/slideLayouts/slideLayout1.xml" Id="R95702465bf4942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702465bf4942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f5004ba7e4e6c" /><Relationship Type="http://schemas.openxmlformats.org/officeDocument/2006/relationships/image" Target="/ppt/media/image.png" Id="Ra30a3d5759b743f2" /><Relationship Type="http://schemas.openxmlformats.org/officeDocument/2006/relationships/image" Target="/ppt/media/image.jpeg" Id="R5183d153d0fe4582" /><Relationship Type="http://schemas.openxmlformats.org/officeDocument/2006/relationships/notesSlide" Target="/ppt/notesSlides/notesSlide1.xml" Id="Raeefe5ff5b954f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91cd6cfb34c22" /><Relationship Type="http://schemas.openxmlformats.org/officeDocument/2006/relationships/notesSlide" Target="/ppt/notesSlides/notesSlide2.xml" Id="R3822158f319044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3f3f280a642ab" /><Relationship Type="http://schemas.openxmlformats.org/officeDocument/2006/relationships/image" Target="/ppt/media/image2.png" Id="R5497958de9c24834" /><Relationship Type="http://schemas.openxmlformats.org/officeDocument/2006/relationships/notesSlide" Target="/ppt/notesSlides/notesSlide3.xml" Id="R5df83a73874442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34a30080d4c67" /><Relationship Type="http://schemas.openxmlformats.org/officeDocument/2006/relationships/image" Target="/ppt/media/image3.png" Id="Rf52e5cf03aee4046" /><Relationship Type="http://schemas.openxmlformats.org/officeDocument/2006/relationships/image" Target="/ppt/media/image2.jpeg" Id="R5ac4c1c29b514306" /><Relationship Type="http://schemas.openxmlformats.org/officeDocument/2006/relationships/image" Target="/ppt/media/image4.png" Id="R6a67a3fc558c47e6" /><Relationship Type="http://schemas.openxmlformats.org/officeDocument/2006/relationships/notesSlide" Target="/ppt/notesSlides/notesSlide4.xml" Id="R2bb3ef30361f42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4a3fd68dc420a" /><Relationship Type="http://schemas.openxmlformats.org/officeDocument/2006/relationships/image" Target="/ppt/media/image5.png" Id="R2a2f321700e14c81" /><Relationship Type="http://schemas.openxmlformats.org/officeDocument/2006/relationships/notesSlide" Target="/ppt/notesSlides/notesSlide5.xml" Id="R706055cc9eb343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6e354d56e47ee" /><Relationship Type="http://schemas.openxmlformats.org/officeDocument/2006/relationships/image" Target="/ppt/media/image6.png" Id="R3dfb50b49dd344c0" /><Relationship Type="http://schemas.openxmlformats.org/officeDocument/2006/relationships/notesSlide" Target="/ppt/notesSlides/notesSlide6.xml" Id="R265d1f75b1e648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7707eee8f4bae" /><Relationship Type="http://schemas.openxmlformats.org/officeDocument/2006/relationships/image" Target="/ppt/media/image3.jpeg" Id="Ra2d544e167674886" /><Relationship Type="http://schemas.openxmlformats.org/officeDocument/2006/relationships/notesSlide" Target="/ppt/notesSlides/notesSlide7.xml" Id="R772f5c082c3d42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f2f04926b4638" /><Relationship Type="http://schemas.openxmlformats.org/officeDocument/2006/relationships/image" Target="/ppt/media/image7.png" Id="R78f64259d3e947d1" /><Relationship Type="http://schemas.openxmlformats.org/officeDocument/2006/relationships/notesSlide" Target="/ppt/notesSlides/notesSlide8.xml" Id="R2cbf4099215143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C9813-AF54-45AB-BF1E-5D86554A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172A"/>
                </a:solidFill>
              </a:defRPr>
            </a:pPr>
            <a:r>
              <a:rPr sz="2025" b="1">
                <a:solidFill>
                  <a:srgbClr val="08172A"/>
                </a:solidFill>
              </a:rPr>
              <a:t>Protocol Builders Program  •  Polkadot Blockchain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E1740-AF93-415F-B8E9-A0293138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1409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8A9DAF"/>
                </a:solidFill>
              </a:defRPr>
            </a:pPr>
            <a:r>
              <a:rPr sz="2025" b="1">
                <a:solidFill>
                  <a:srgbClr val="8A9DAF"/>
                </a:solidFill>
              </a:rPr>
              <a:t>ALUMNI PROJECT SHOWCASE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5E304-5A76-438E-B463-1ACF8CFF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33600"/>
            <a:ext cx="2028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CD360-CB1C-4A9B-9F40-A7751273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93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Dotify · Kevin Nzeng Essimengane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B0F87-BAAF-477D-8A6A-C0E94FBF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2934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66C49-8B7B-4A55-A3A0-9A09C645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573000"/>
            <a:ext cx="2028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a3d5759b743f2"/>
          <a:stretch xmlns:a="http://schemas.openxmlformats.org/drawingml/2006/main"/>
        </p:blipFill>
        <p:spPr>
          <a:xfrm xmlns:a="http://schemas.openxmlformats.org/drawingml/2006/main">
            <a:off x="2381250" y="3067050"/>
            <a:ext cx="1381125" cy="1381125"/>
          </a:xfrm>
          <a:prstGeom xmlns:a="http://schemas.openxmlformats.org/drawingml/2006/main" prst="roundRect">
            <a:avLst>
              <a:gd name="adj" fmla="val 1931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A740F-ED52-46B0-AF77-B0B64409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051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8172A"/>
                </a:solidFill>
              </a:defRPr>
            </a:pPr>
            <a:r>
              <a:rPr sz="6150" b="1">
                <a:solidFill>
                  <a:srgbClr val="08172A"/>
                </a:solidFill>
              </a:rPr>
              <a:t>Dotify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C5CF4-9AA2-4088-B35A-27420EDD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8477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8172A"/>
                </a:solidFill>
              </a:defRPr>
            </a:pPr>
            <a:r>
              <a:rPr sz="5850" b="1">
                <a:solidFill>
                  <a:srgbClr val="08172A"/>
                </a:solidFill>
              </a:rPr>
              <a:t>Let the Music connect the dots.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2A1D3-4872-4312-9AFC-66BFF3F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239000"/>
            <a:ext cx="857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F8196"/>
                </a:solidFill>
              </a:defRPr>
            </a:pPr>
            <a:r>
              <a:rPr sz="2850" b="0">
                <a:solidFill>
                  <a:srgbClr val="6F8196"/>
                </a:solidFill>
              </a:rPr>
              <a:t>A shared common listening space where music reconnects people, and where artists keep control of their 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FF7E7-448B-4E3A-87D7-D929A93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9715500"/>
            <a:ext cx="314325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FF8"/>
          </a:solidFill>
          <a:ln xmlns:a="http://schemas.openxmlformats.org/drawingml/2006/main" w="28575">
            <a:solidFill>
              <a:srgbClr val="EAFF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38F38-0FD1-4FE9-A84D-E7CA7836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9250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172A"/>
                </a:solidFill>
              </a:defRPr>
            </a:pPr>
            <a:r>
              <a:rPr sz="2100" b="1">
                <a:solidFill>
                  <a:srgbClr val="08172A"/>
                </a:solidFill>
              </a:rPr>
              <a:t>shared listening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CA15E-E59F-4562-BA42-7AD9B61B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9715500"/>
            <a:ext cx="34290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7"/>
          </a:solidFill>
          <a:ln xmlns:a="http://schemas.openxmlformats.org/drawingml/2006/main" w="28575">
            <a:solidFill>
              <a:srgbClr val="FFF0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6DA46-304A-4687-9EAC-7D91E17C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250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6007A"/>
                </a:solidFill>
              </a:defRPr>
            </a:pPr>
            <a:r>
              <a:rPr sz="2100" b="1">
                <a:solidFill>
                  <a:srgbClr val="E6007A"/>
                </a:solidFill>
              </a:rPr>
              <a:t>artist sovereignty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360F3-0D21-43F5-8E1E-408F0B99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9715500"/>
            <a:ext cx="302895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28575">
            <a:solidFill>
              <a:srgbClr val="EDF5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20E83-0BC7-4D6C-9B0F-92D0EB0C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92505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172A"/>
                </a:solidFill>
              </a:defRPr>
            </a:pPr>
            <a:r>
              <a:rPr sz="2100" b="1">
                <a:solidFill>
                  <a:srgbClr val="08172A"/>
                </a:solidFill>
              </a:rPr>
              <a:t>cultural commons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3d153d0fe4582"/>
          <a:srcRect xmlns:a="http://schemas.openxmlformats.org/drawingml/2006/main" l="6904" t="0" r="69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77700" y="2952750"/>
            <a:ext cx="9715500" cy="6191250"/>
          </a:xfrm>
          <a:prstGeom xmlns:a="http://schemas.openxmlformats.org/drawingml/2006/main" prst="roundRect">
            <a:avLst>
              <a:gd name="adj" fmla="val 3692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272F7-D1EA-4C29-A4F9-4D5176B6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25" y="9477375"/>
            <a:ext cx="5191125" cy="742950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0B2341"/>
          </a:solidFill>
          <a:ln xmlns:a="http://schemas.openxmlformats.org/drawingml/2006/main" w="28575">
            <a:solidFill>
              <a:srgbClr val="0B23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55468-F13C-43A4-AEC9-607E4D98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dotify-test01.dot</a:t>
            </a:r>
          </a:p>
        </p:txBody>
      </p:sp>
    </p:spTree>
    <p:extLst>
      <p:ext uri="{BB962C8B-B14F-4D97-AF65-F5344CB8AC3E}">
        <p14:creationId xmlns:p14="http://schemas.microsoft.com/office/powerpoint/2010/main" val="62235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BA8B3-F26A-457F-905C-D32B9FF2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172A"/>
                </a:solidFill>
              </a:defRPr>
            </a:pPr>
            <a:r>
              <a:rPr sz="2025" b="1">
                <a:solidFill>
                  <a:srgbClr val="08172A"/>
                </a:solidFill>
              </a:rPr>
              <a:t>Protocol Builders Program  •  Polkadot Blockchain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AD172-AADE-4EFB-8C51-F20D7BDE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1409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8A9DAF"/>
                </a:solidFill>
              </a:defRPr>
            </a:pPr>
            <a:r>
              <a:rPr sz="2025" b="1">
                <a:solidFill>
                  <a:srgbClr val="8A9DAF"/>
                </a:solidFill>
              </a:rPr>
              <a:t>ALUMNI PROJECT SHOWCASE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4D19C-7F5E-4150-82F8-FA2C149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33600"/>
            <a:ext cx="2028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6268F-969B-4344-8111-29B22C75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93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Dotify · Kevin Nzeng Essimengane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18AC9-3CB6-46D2-A42A-258CB869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2934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A0BCB-AEFB-4806-A06E-AC3923D4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573000"/>
            <a:ext cx="2028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668C3-6BD2-474D-923D-989B6766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57500"/>
            <a:ext cx="1219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8172A"/>
                </a:solidFill>
              </a:defRPr>
            </a:pPr>
            <a:r>
              <a:rPr sz="5400" b="1">
                <a:solidFill>
                  <a:srgbClr val="08172A"/>
                </a:solidFill>
              </a:rPr>
              <a:t>Shared places have become private bubbles.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3E63E-2738-4C93-A05D-89BCA6A8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F8196"/>
                </a:solidFill>
              </a:defRPr>
            </a:pPr>
            <a:r>
              <a:rPr sz="2850" b="0">
                <a:solidFill>
                  <a:srgbClr val="6F8196"/>
                </a:solidFill>
              </a:rPr>
              <a:t>In buses, trains, streets and public rooms, people stand together while listening alone.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E9A98-1735-4A48-8123-7F50E605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91250"/>
            <a:ext cx="5619750" cy="2905125"/>
          </a:xfrm>
          <a:prstGeom xmlns:a="http://schemas.openxmlformats.org/drawingml/2006/main" prst="roundRect">
            <a:avLst>
              <a:gd name="adj" fmla="val 9180"/>
            </a:avLst>
          </a:prstGeom>
          <a:solidFill xmlns:a="http://schemas.openxmlformats.org/drawingml/2006/main">
            <a:srgbClr val="EDF5FF"/>
          </a:solidFill>
          <a:ln xmlns:a="http://schemas.openxmlformats.org/drawingml/2006/main" w="28575">
            <a:solidFill>
              <a:srgbClr val="DFE8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F9C46-D61C-42D7-9EB0-49822808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7341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172A"/>
                </a:solidFill>
              </a:defRPr>
            </a:pPr>
            <a:r>
              <a:rPr sz="2850" b="1">
                <a:solidFill>
                  <a:srgbClr val="08172A"/>
                </a:solidFill>
              </a:rPr>
              <a:t>Common spaces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B0015-1673-4C65-8510-4BC79B5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7620000"/>
            <a:ext cx="4619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6F8196"/>
                </a:solidFill>
              </a:defRPr>
            </a:pPr>
            <a:r>
              <a:rPr sz="2325" b="0">
                <a:solidFill>
                  <a:srgbClr val="6F8196"/>
                </a:solidFill>
              </a:rPr>
              <a:t>The physical place is shared, but the moment is often private.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D534A-A048-4A17-9E1B-34ACABF8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91250"/>
            <a:ext cx="5619750" cy="2905125"/>
          </a:xfrm>
          <a:prstGeom xmlns:a="http://schemas.openxmlformats.org/drawingml/2006/main" prst="roundRect">
            <a:avLst>
              <a:gd name="adj" fmla="val 9180"/>
            </a:avLst>
          </a:prstGeom>
          <a:solidFill xmlns:a="http://schemas.openxmlformats.org/drawingml/2006/main">
            <a:srgbClr val="FFF0F7"/>
          </a:solidFill>
          <a:ln xmlns:a="http://schemas.openxmlformats.org/drawingml/2006/main" w="28575">
            <a:solidFill>
              <a:srgbClr val="FFC7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D8202-B28B-4388-8A81-06A64DF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341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6007A"/>
                </a:solidFill>
              </a:defRPr>
            </a:pPr>
            <a:r>
              <a:rPr sz="2850" b="1">
                <a:solidFill>
                  <a:srgbClr val="E6007A"/>
                </a:solidFill>
              </a:rPr>
              <a:t>Common gesture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28181-BCD3-46F3-8468-BC9F6EE9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20000"/>
            <a:ext cx="4619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6F8196"/>
                </a:solidFill>
              </a:defRPr>
            </a:pPr>
            <a:r>
              <a:rPr sz="2325" b="0">
                <a:solidFill>
                  <a:srgbClr val="6F8196"/>
                </a:solidFill>
              </a:rPr>
              <a:t>Most people inside the bubble are doing the same thing: listening.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3CA38-C2C9-4412-8FD8-A7F57683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6191250"/>
            <a:ext cx="5619750" cy="2905125"/>
          </a:xfrm>
          <a:prstGeom xmlns:a="http://schemas.openxmlformats.org/drawingml/2006/main" prst="roundRect">
            <a:avLst>
              <a:gd name="adj" fmla="val 9180"/>
            </a:avLst>
          </a:prstGeom>
          <a:solidFill xmlns:a="http://schemas.openxmlformats.org/drawingml/2006/main">
            <a:srgbClr val="EAFFF8"/>
          </a:solidFill>
          <a:ln xmlns:a="http://schemas.openxmlformats.org/drawingml/2006/main" w="28575">
            <a:solidFill>
              <a:srgbClr val="A6F3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C3F31-41B2-4E50-A34E-197AE912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67341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172A"/>
                </a:solidFill>
              </a:defRPr>
            </a:pPr>
            <a:r>
              <a:rPr sz="2850" b="1">
                <a:solidFill>
                  <a:srgbClr val="08172A"/>
                </a:solidFill>
              </a:rPr>
              <a:t>Common possibility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F7FE8-82F9-42BF-8EAC-FB16D495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7620000"/>
            <a:ext cx="4619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6F8196"/>
                </a:solidFill>
              </a:defRPr>
            </a:pPr>
            <a:r>
              <a:rPr sz="2325" b="0">
                <a:solidFill>
                  <a:srgbClr val="6F8196"/>
                </a:solidFill>
              </a:rPr>
              <a:t>Music can reopen a small bridge between people who are already near each other.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C1814-3FD7-4AE3-A307-981AC5BC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0077450"/>
            <a:ext cx="1857375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F7"/>
          </a:solidFill>
          <a:ln xmlns:a="http://schemas.openxmlformats.org/drawingml/2006/main" w="28575">
            <a:solidFill>
              <a:srgbClr val="FF8C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21512-A176-4399-BD86-F580637B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420350"/>
            <a:ext cx="1638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8172A"/>
                </a:solidFill>
              </a:defRPr>
            </a:pPr>
            <a:r>
              <a:rPr sz="4050" b="1">
                <a:solidFill>
                  <a:srgbClr val="08172A"/>
                </a:solidFill>
              </a:rPr>
              <a:t>Dotify turns shared spaces into spaces of commons.</a:t>
            </a:r>
          </a:p>
        </p:txBody>
      </p:sp>
    </p:spTree>
    <p:extLst>
      <p:ext uri="{BB962C8B-B14F-4D97-AF65-F5344CB8AC3E}">
        <p14:creationId xmlns:p14="http://schemas.microsoft.com/office/powerpoint/2010/main" val="647383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F858A-F53C-41F5-A2B9-6130EE74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172A"/>
                </a:solidFill>
              </a:defRPr>
            </a:pPr>
            <a:r>
              <a:rPr sz="2025" b="1">
                <a:solidFill>
                  <a:srgbClr val="08172A"/>
                </a:solidFill>
              </a:rPr>
              <a:t>Protocol Builders Program  •  Polkadot Blockchain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BB80A-D19F-4092-B2B4-3F357C27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1409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8A9DAF"/>
                </a:solidFill>
              </a:defRPr>
            </a:pPr>
            <a:r>
              <a:rPr sz="2025" b="1">
                <a:solidFill>
                  <a:srgbClr val="8A9DAF"/>
                </a:solidFill>
              </a:rPr>
              <a:t>ALUMNI PROJECT SHOWCASE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E45BE-0792-455B-990E-10F93913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33600"/>
            <a:ext cx="2028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67A67-245E-4F09-BE0E-93D35B3F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93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Dotify · Kevin Nzeng Essimengane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2BAC1-D38D-400C-ACFB-79CD708D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2934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E0129-8839-4737-8334-B59A11A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573000"/>
            <a:ext cx="2028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EB34C-3AFB-4022-9507-C981A05F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8172A"/>
                </a:solidFill>
              </a:defRPr>
            </a:pPr>
            <a:r>
              <a:rPr sz="5250" b="1">
                <a:solidFill>
                  <a:srgbClr val="08172A"/>
                </a:solidFill>
              </a:rPr>
              <a:t>The room is the new musical commons.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724B6-7655-4DB4-ABA9-6C0842EE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923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6F8196"/>
                </a:solidFill>
              </a:defRPr>
            </a:pPr>
            <a:r>
              <a:rPr sz="2775" b="0">
                <a:solidFill>
                  <a:srgbClr val="6F8196"/>
                </a:solidFill>
              </a:rPr>
              <a:t>A host opens a listening moment. Others enter with a link. The music becomes shared presence instead of isolated consumption.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9A3CE-B53C-4511-9FC0-164797EB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62750"/>
            <a:ext cx="9048750" cy="112395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0B2341"/>
          </a:solidFill>
          <a:ln xmlns:a="http://schemas.openxmlformats.org/drawingml/2006/main" w="28575">
            <a:solidFill>
              <a:srgbClr val="0B234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7421B-FA74-4A07-A00A-16E7184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7096125"/>
            <a:ext cx="790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one room · one link · one shared moment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7958de9c24834"/>
          <a:srcRect xmlns:a="http://schemas.openxmlformats.org/drawingml/2006/main" l="0" t="2278" r="0" b="22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239625" y="3143250"/>
            <a:ext cx="8572500" cy="590550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FC1738-EA49-4DB0-9ADF-84CA4FA6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9572625"/>
            <a:ext cx="1762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8172A"/>
                </a:solidFill>
              </a:defRPr>
            </a:pPr>
            <a:r>
              <a:rPr sz="3750" b="1">
                <a:solidFill>
                  <a:srgbClr val="08172A"/>
                </a:solidFill>
              </a:rPr>
              <a:t>Discovery starts from people, not only from feeds.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BB98E-1DBF-44AC-A807-F6B5B223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0525125"/>
            <a:ext cx="1600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6F8196"/>
                </a:solidFill>
              </a:defRPr>
            </a:pPr>
            <a:r>
              <a:rPr sz="2550" b="0">
                <a:solidFill>
                  <a:srgbClr val="6F8196"/>
                </a:solidFill>
              </a:rPr>
              <a:t>A room makes listening visible, temporary and human. The catalogue is still there, but the social moment becomes the front door.</a:t>
            </a:r>
          </a:p>
        </p:txBody>
      </p:sp>
    </p:spTree>
    <p:extLst>
      <p:ext uri="{BB962C8B-B14F-4D97-AF65-F5344CB8AC3E}">
        <p14:creationId xmlns:p14="http://schemas.microsoft.com/office/powerpoint/2010/main" val="1288681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B193E-3334-450B-8371-D13A8F4B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172A"/>
                </a:solidFill>
              </a:defRPr>
            </a:pPr>
            <a:r>
              <a:rPr sz="2025" b="1">
                <a:solidFill>
                  <a:srgbClr val="08172A"/>
                </a:solidFill>
              </a:rPr>
              <a:t>Protocol Builders Program  •  Polkadot Blockchain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6CC45-0A3A-4796-9689-65E9002A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1409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8A9DAF"/>
                </a:solidFill>
              </a:defRPr>
            </a:pPr>
            <a:r>
              <a:rPr sz="2025" b="1">
                <a:solidFill>
                  <a:srgbClr val="8A9DAF"/>
                </a:solidFill>
              </a:rPr>
              <a:t>ALUMNI PROJECT SHOWCASE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A2298-C2F7-4A54-BEB3-F813A930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33600"/>
            <a:ext cx="2028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22AB7-DE63-41E9-8122-5101CB02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93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Dotify · Kevin Nzeng Essimengane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41F83-A3FC-4621-BD1C-AEE77C1B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2934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6D9F7-0DDF-4DC2-8161-20055EA4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573000"/>
            <a:ext cx="2028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D33F8-0967-4FC1-B19A-8E0DD5E1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638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172A"/>
                </a:solidFill>
              </a:defRPr>
            </a:pPr>
            <a:r>
              <a:rPr sz="4800" b="1">
                <a:solidFill>
                  <a:srgbClr val="08172A"/>
                </a:solidFill>
              </a:rPr>
              <a:t>A working slice already connects music, rooms and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AA30F-83BE-4DB8-96F5-61409898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19625"/>
            <a:ext cx="1619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6F8196"/>
                </a:solidFill>
              </a:defRPr>
            </a:pPr>
            <a:r>
              <a:rPr sz="2550" b="0">
                <a:solidFill>
                  <a:srgbClr val="6F8196"/>
                </a:solidFill>
              </a:rPr>
              <a:t>The current testnet experience shows the product loop: browse tracks, open a room, invite listeners, and handle protected support transparently.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63086-C6A0-4D9F-A396-DBBB4C9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76875"/>
            <a:ext cx="5619750" cy="36004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6007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e5cf03aee4046"/>
          <a:srcRect xmlns:a="http://schemas.openxmlformats.org/drawingml/2006/main" l="0" t="1253" r="0" b="1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7450" y="5619750"/>
            <a:ext cx="5372100" cy="3314700"/>
          </a:xfrm>
          <a:prstGeom xmlns:a="http://schemas.openxmlformats.org/drawingml/2006/main" prst="roundRect">
            <a:avLst>
              <a:gd name="adj" fmla="val 373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8AC91-DB3F-4A9E-9711-17C8EB80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95250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72A"/>
                </a:solidFill>
              </a:defRPr>
            </a:pPr>
            <a:r>
              <a:rPr sz="2550" b="1">
                <a:solidFill>
                  <a:srgbClr val="08172A"/>
                </a:solidFill>
              </a:rPr>
              <a:t>Browse the catalog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0C233-2735-41BD-864A-473CD4E0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0172700"/>
            <a:ext cx="500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8196"/>
                </a:solidFill>
              </a:defRPr>
            </a:pPr>
            <a:r>
              <a:rPr sz="2025" b="0">
                <a:solidFill>
                  <a:srgbClr val="6F8196"/>
                </a:solidFill>
              </a:rPr>
              <a:t>Five registered releases create a first public listening field.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AC7EE-4C98-42FE-B122-418387A3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76875"/>
            <a:ext cx="5619750" cy="36004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E5A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4c1c29b514306"/>
          <a:srcRect xmlns:a="http://schemas.openxmlformats.org/drawingml/2006/main" l="5490" t="0" r="54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72575" y="5619750"/>
            <a:ext cx="5372100" cy="3314700"/>
          </a:xfrm>
          <a:prstGeom xmlns:a="http://schemas.openxmlformats.org/drawingml/2006/main" prst="roundRect">
            <a:avLst>
              <a:gd name="adj" fmla="val 3736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E64F4-7B6C-489F-9B66-B4741B4D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5250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72A"/>
                </a:solidFill>
              </a:defRPr>
            </a:pPr>
            <a:r>
              <a:rPr sz="2550" b="1">
                <a:solidFill>
                  <a:srgbClr val="08172A"/>
                </a:solidFill>
              </a:rPr>
              <a:t>Open a room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A9009-DD13-402A-B313-BC3E1540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172700"/>
            <a:ext cx="500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8196"/>
                </a:solidFill>
              </a:defRPr>
            </a:pPr>
            <a:r>
              <a:rPr sz="2025" b="0">
                <a:solidFill>
                  <a:srgbClr val="6F8196"/>
                </a:solidFill>
              </a:rPr>
              <a:t>The host turns a track into a shared moment with one link.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DDAB65-A7B2-46D1-891A-1AA09027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5476875"/>
            <a:ext cx="5619750" cy="36004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8791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7a3fc558c47e6"/>
          <a:srcRect xmlns:a="http://schemas.openxmlformats.org/drawingml/2006/main" l="0" t="9659" r="0" b="9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7700" y="5619750"/>
            <a:ext cx="5372100" cy="3314700"/>
          </a:xfrm>
          <a:prstGeom xmlns:a="http://schemas.openxmlformats.org/drawingml/2006/main" prst="roundRect">
            <a:avLst>
              <a:gd name="adj" fmla="val 373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442E3-C8FC-4AB4-B3A8-609202AB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95250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172A"/>
                </a:solidFill>
              </a:defRPr>
            </a:pPr>
            <a:r>
              <a:rPr sz="2550" b="1">
                <a:solidFill>
                  <a:srgbClr val="08172A"/>
                </a:solidFill>
              </a:rPr>
              <a:t>Support with clarity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29E7A-854B-45E8-BA2A-7726E4A6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172700"/>
            <a:ext cx="5000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8196"/>
                </a:solidFill>
              </a:defRPr>
            </a:pPr>
            <a:r>
              <a:rPr sz="2025" b="0">
                <a:solidFill>
                  <a:srgbClr val="6F8196"/>
                </a:solidFill>
              </a:rPr>
              <a:t>Protected tracks show the artist's terms before access opens.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57377-CAF6-4D4B-888D-6E223FFA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1544300"/>
            <a:ext cx="1666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8172A"/>
                </a:solidFill>
              </a:defRPr>
            </a:pPr>
            <a:r>
              <a:rPr sz="2700" b="1">
                <a:solidFill>
                  <a:srgbClr val="08172A"/>
                </a:solidFill>
              </a:rPr>
              <a:t>The visible experience stays simple; the trust layer stays mostly invisible.</a:t>
            </a:r>
          </a:p>
        </p:txBody>
      </p:sp>
    </p:spTree>
    <p:extLst>
      <p:ext uri="{BB962C8B-B14F-4D97-AF65-F5344CB8AC3E}">
        <p14:creationId xmlns:p14="http://schemas.microsoft.com/office/powerpoint/2010/main" val="2120511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46549-D46C-4633-AF44-5BCB0ED1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172A"/>
                </a:solidFill>
              </a:defRPr>
            </a:pPr>
            <a:r>
              <a:rPr sz="2025" b="1">
                <a:solidFill>
                  <a:srgbClr val="08172A"/>
                </a:solidFill>
              </a:rPr>
              <a:t>Protocol Builders Program  •  Polkadot Blockchain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A1200-DD65-4269-A509-69CE08AF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1409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8A9DAF"/>
                </a:solidFill>
              </a:defRPr>
            </a:pPr>
            <a:r>
              <a:rPr sz="2025" b="1">
                <a:solidFill>
                  <a:srgbClr val="8A9DAF"/>
                </a:solidFill>
              </a:rPr>
              <a:t>ALUMNI PROJECT SHOWCASE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24D67-CD41-401E-8129-E8E44D91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33600"/>
            <a:ext cx="2028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73F58-25C6-4C61-A7A6-DC2D8B39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93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Dotify · Kevin Nzeng Essimengane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5AB54-8D3D-42C5-9D9D-92FCE9B1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2934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72A20-E9DF-40DF-A003-007DFE29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573000"/>
            <a:ext cx="2028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29F11-BD6B-412C-9FFF-D7398A8F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257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8172A"/>
                </a:solidFill>
              </a:defRPr>
            </a:pPr>
            <a:r>
              <a:rPr sz="5250" b="1">
                <a:solidFill>
                  <a:srgbClr val="08172A"/>
                </a:solidFill>
              </a:rPr>
              <a:t>Artists need a space they govern.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14514-F231-45E7-BD57-31B66B52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8145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6F8196"/>
                </a:solidFill>
              </a:defRPr>
            </a:pPr>
            <a:r>
              <a:rPr sz="2700" b="0">
                <a:solidFill>
                  <a:srgbClr val="6F8196"/>
                </a:solidFill>
              </a:rPr>
              <a:t>Dotify is not a platform that swallows the artist. It gives each artist a smart space for their work.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f321700e14c81"/>
          <a:srcRect xmlns:a="http://schemas.openxmlformats.org/drawingml/2006/main" l="0" t="6425" r="0" b="6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33625" y="5810250"/>
            <a:ext cx="10382250" cy="5524500"/>
          </a:xfrm>
          <a:prstGeom xmlns:a="http://schemas.openxmlformats.org/drawingml/2006/main" prst="roundRect">
            <a:avLst>
              <a:gd name="adj" fmla="val 413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32EDC-3DA7-4404-8826-C603F423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02920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46BA2-EABE-49D4-B4F8-5FC7704F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3340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172A"/>
                </a:solidFill>
              </a:defRPr>
            </a:pPr>
            <a:r>
              <a:rPr sz="2625" b="1">
                <a:solidFill>
                  <a:srgbClr val="08172A"/>
                </a:solidFill>
              </a:rPr>
              <a:t>distribution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2CC23-BE60-4171-B18B-34E34D58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53721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F8196"/>
                </a:solidFill>
              </a:defRPr>
            </a:pPr>
            <a:r>
              <a:rPr sz="2250" b="0">
                <a:solidFill>
                  <a:srgbClr val="6F8196"/>
                </a:solidFill>
              </a:rPr>
              <a:t>Where the release can circulate.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B12EA-D72C-4570-A11B-707AEFF8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505575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9CE70-56E1-4DE2-86F2-330FFD22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810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6007A"/>
                </a:solidFill>
              </a:defRPr>
            </a:pPr>
            <a:r>
              <a:rPr sz="2625" b="1">
                <a:solidFill>
                  <a:srgbClr val="E6007A"/>
                </a:solidFill>
              </a:rPr>
              <a:t>rights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3633D-AB81-4E38-B745-905D7690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68484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F8196"/>
                </a:solidFill>
              </a:defRPr>
            </a:pPr>
            <a:r>
              <a:rPr sz="2250" b="0">
                <a:solidFill>
                  <a:srgbClr val="6F8196"/>
                </a:solidFill>
              </a:rPr>
              <a:t>Who participates in the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61F26-0CB7-43CD-A7FD-7C2ECECE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8195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36988-1953-48C8-A1CA-D3BC02DA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86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172A"/>
                </a:solidFill>
              </a:defRPr>
            </a:pPr>
            <a:r>
              <a:rPr sz="2625" b="1">
                <a:solidFill>
                  <a:srgbClr val="08172A"/>
                </a:solidFill>
              </a:rPr>
              <a:t>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538DC-6BC5-46EF-840A-65BE11F7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83248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F8196"/>
                </a:solidFill>
              </a:defRPr>
            </a:pPr>
            <a:r>
              <a:rPr sz="2250" b="0">
                <a:solidFill>
                  <a:srgbClr val="6F8196"/>
                </a:solidFill>
              </a:rPr>
              <a:t>Who may listen, support or enter.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04373-2306-474E-A957-13B9DA9C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458325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0D9E7-DE41-48E1-B23C-0E432950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9763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172A"/>
                </a:solidFill>
              </a:defRPr>
            </a:pPr>
            <a:r>
              <a:rPr sz="2625" b="1">
                <a:solidFill>
                  <a:srgbClr val="08172A"/>
                </a:solidFill>
              </a:rPr>
              <a:t>value flows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0CDB8C-FA40-4689-AC82-3A6F9784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25" y="9801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F8196"/>
                </a:solidFill>
              </a:defRPr>
            </a:pPr>
            <a:r>
              <a:rPr sz="2250" b="0">
                <a:solidFill>
                  <a:srgbClr val="6F8196"/>
                </a:solidFill>
              </a:rPr>
              <a:t>How payments are routed between rights holders.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301AD-547B-41CB-B842-2C2B4BD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1239500"/>
            <a:ext cx="714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172A"/>
                </a:solidFill>
              </a:defRPr>
            </a:pPr>
            <a:r>
              <a:rPr sz="2475" b="1">
                <a:solidFill>
                  <a:srgbClr val="08172A"/>
                </a:solidFill>
              </a:rPr>
              <a:t>The artist-owned runtime is an ethical boundary: the platform should serve the work, not capture it.</a:t>
            </a:r>
          </a:p>
        </p:txBody>
      </p:sp>
    </p:spTree>
    <p:extLst>
      <p:ext uri="{BB962C8B-B14F-4D97-AF65-F5344CB8AC3E}">
        <p14:creationId xmlns:p14="http://schemas.microsoft.com/office/powerpoint/2010/main" val="1805952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B0D41B-445F-4CC9-AADA-1A8EA8CA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172A"/>
                </a:solidFill>
              </a:defRPr>
            </a:pPr>
            <a:r>
              <a:rPr sz="2025" b="1">
                <a:solidFill>
                  <a:srgbClr val="08172A"/>
                </a:solidFill>
              </a:rPr>
              <a:t>Protocol Builders Program  •  Polkadot Blockchain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92ED2-AFFB-495E-B505-6B804103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1409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8A9DAF"/>
                </a:solidFill>
              </a:defRPr>
            </a:pPr>
            <a:r>
              <a:rPr sz="2025" b="1">
                <a:solidFill>
                  <a:srgbClr val="8A9DAF"/>
                </a:solidFill>
              </a:rPr>
              <a:t>ALUMNI PROJECT SHOWCASE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796BA-40D2-4A6E-9F87-2D1C7C74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33600"/>
            <a:ext cx="2028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62520-E097-4054-839A-1E973862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93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Dotify · Kevin Nzeng Essimengane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C9752-DFB9-4F73-9017-E4D1A22C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2934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EF04E-759A-4030-8CA6-F26F347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573000"/>
            <a:ext cx="2028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1006E-5D3A-4437-99B0-3531FFF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62250"/>
            <a:ext cx="1685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8172A"/>
                </a:solidFill>
              </a:defRPr>
            </a:pPr>
            <a:r>
              <a:rPr sz="4650" b="1">
                <a:solidFill>
                  <a:srgbClr val="08172A"/>
                </a:solidFill>
              </a:rPr>
              <a:t>A cultural commons still needs rules that respect people.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E37BD-53D8-4F2D-A967-420402F8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00500"/>
            <a:ext cx="1571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6F8196"/>
                </a:solidFill>
              </a:defRPr>
            </a:pPr>
            <a:r>
              <a:rPr sz="2550" b="0">
                <a:solidFill>
                  <a:srgbClr val="6F8196"/>
                </a:solidFill>
              </a:rPr>
              <a:t>Dotify treats music as a common listening experience without pretending that rights, authorship and payment disappear.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DBF3B-C2BD-4E5E-8531-A311AC0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10250"/>
            <a:ext cx="561975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AFFF8"/>
          </a:solidFill>
          <a:ln xmlns:a="http://schemas.openxmlformats.org/drawingml/2006/main" w="28575">
            <a:solidFill>
              <a:srgbClr val="00E5A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92E6A-1D43-4679-ACD5-C821D9DC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2674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E5A0"/>
                </a:solidFill>
              </a:defRPr>
            </a:pPr>
            <a:r>
              <a:rPr sz="2250" b="1">
                <a:solidFill>
                  <a:srgbClr val="00E5A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C0A33-1A47-46B2-8644-852F7C4F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9056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172A"/>
                </a:solidFill>
              </a:defRPr>
            </a:pPr>
            <a:r>
              <a:rPr sz="2850" b="1">
                <a:solidFill>
                  <a:srgbClr val="08172A"/>
                </a:solidFill>
              </a:rPr>
              <a:t>Free listening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750ED-4E5E-4DAD-A72D-4E545A3D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7715250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F8196"/>
                </a:solidFill>
              </a:defRPr>
            </a:pPr>
            <a:r>
              <a:rPr sz="2175" b="0">
                <a:solidFill>
                  <a:srgbClr val="6F8196"/>
                </a:solidFill>
              </a:rPr>
              <a:t>Some tracks can travel freely and open the room immediately.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A6CCE-92BC-4676-B1FF-433081FD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10250"/>
            <a:ext cx="561975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5E3"/>
          </a:solidFill>
          <a:ln xmlns:a="http://schemas.openxmlformats.org/drawingml/2006/main" w="28575">
            <a:solidFill>
              <a:srgbClr val="B8791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B0ACF0-C8FE-41BD-906A-0A0915FF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674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7912"/>
                </a:solidFill>
              </a:defRPr>
            </a:pPr>
            <a:r>
              <a:rPr sz="2250" b="1">
                <a:solidFill>
                  <a:srgbClr val="B8791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8CB1B-257F-4485-B47B-FEDDEE40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9056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172A"/>
                </a:solidFill>
              </a:defRPr>
            </a:pPr>
            <a:r>
              <a:rPr sz="2850" b="1">
                <a:solidFill>
                  <a:srgbClr val="08172A"/>
                </a:solidFill>
              </a:rPr>
              <a:t>Classic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DF593-14D9-40C7-8F87-35E423EF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715250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F8196"/>
                </a:solidFill>
              </a:defRPr>
            </a:pPr>
            <a:r>
              <a:rPr sz="2175" b="0">
                <a:solidFill>
                  <a:srgbClr val="6F8196"/>
                </a:solidFill>
              </a:rPr>
              <a:t>A listener can support a track and see the split before confirming.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21E45-1976-42A4-BB5E-270A28FB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5810250"/>
            <a:ext cx="5619750" cy="3238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0F7"/>
          </a:solidFill>
          <a:ln xmlns:a="http://schemas.openxmlformats.org/drawingml/2006/main" w="28575">
            <a:solidFill>
              <a:srgbClr val="E600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33DE7-F8F9-4523-8D80-8D1C14EE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62674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6007A"/>
                </a:solidFill>
              </a:defRPr>
            </a:pPr>
            <a:r>
              <a:rPr sz="2250" b="1">
                <a:solidFill>
                  <a:srgbClr val="E6007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F3704-DE47-4259-B936-D5138A34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69056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172A"/>
                </a:solidFill>
              </a:defRPr>
            </a:pPr>
            <a:r>
              <a:rPr sz="2850" b="1">
                <a:solidFill>
                  <a:srgbClr val="08172A"/>
                </a:solidFill>
              </a:rPr>
              <a:t>Human-free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C5F49-351D-4212-8512-09117EB7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25" y="7715250"/>
            <a:ext cx="457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F8196"/>
                </a:solidFill>
              </a:defRPr>
            </a:pPr>
            <a:r>
              <a:rPr sz="2175" b="0">
                <a:solidFill>
                  <a:srgbClr val="6F8196"/>
                </a:solidFill>
              </a:rPr>
              <a:t>Future personhood access should protect dignity, privacy and agency.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b50b49dd344c0"/>
          <a:srcRect xmlns:a="http://schemas.openxmlformats.org/drawingml/2006/main" l="0" t="31074" r="0" b="310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33625" y="9858375"/>
            <a:ext cx="7239000" cy="20955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6A0AE-082D-4339-97BF-0FB71754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09650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8172A"/>
                </a:solidFill>
              </a:defRPr>
            </a:pPr>
            <a:r>
              <a:rPr sz="2925" b="1">
                <a:solidFill>
                  <a:srgbClr val="08172A"/>
                </a:solidFill>
              </a:rPr>
              <a:t>Trust is not decoration. It is what lets the social experience stay open without dispossessing the artist.</a:t>
            </a:r>
          </a:p>
        </p:txBody>
      </p:sp>
    </p:spTree>
    <p:extLst>
      <p:ext uri="{BB962C8B-B14F-4D97-AF65-F5344CB8AC3E}">
        <p14:creationId xmlns:p14="http://schemas.microsoft.com/office/powerpoint/2010/main" val="2059513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1182D-B45F-49F7-850C-CC100E33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172A"/>
                </a:solidFill>
              </a:defRPr>
            </a:pPr>
            <a:r>
              <a:rPr sz="2025" b="1">
                <a:solidFill>
                  <a:srgbClr val="08172A"/>
                </a:solidFill>
              </a:rPr>
              <a:t>Protocol Builders Program  •  Polkadot Blockchain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EA203-28BC-42B2-B646-E79F1A9D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1409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8A9DAF"/>
                </a:solidFill>
              </a:defRPr>
            </a:pPr>
            <a:r>
              <a:rPr sz="2025" b="1">
                <a:solidFill>
                  <a:srgbClr val="8A9DAF"/>
                </a:solidFill>
              </a:rPr>
              <a:t>ALUMNI PROJECT SHOWCASE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8C353-C756-4834-8910-95F4C144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33600"/>
            <a:ext cx="2028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EA935-5DF4-4742-B8F8-29E6B963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93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Dotify · Kevin Nzeng Essimengane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077F5-D93B-4C81-9254-2968A014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2934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8C741-E4BC-45F4-A26E-1CE30B1C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573000"/>
            <a:ext cx="2028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8CEA4-B127-44CA-8DC2-D70710ED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14625"/>
            <a:ext cx="1752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8172A"/>
                </a:solidFill>
              </a:defRPr>
            </a:pPr>
            <a:r>
              <a:rPr sz="4350" b="1">
                <a:solidFill>
                  <a:srgbClr val="08172A"/>
                </a:solidFill>
              </a:rPr>
              <a:t>Polkadot Product is the direction because the product should not become another silo.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3456D-CEEB-41B1-B4FC-C673C519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38625"/>
            <a:ext cx="1657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6F8196"/>
                </a:solidFill>
              </a:defRPr>
            </a:pPr>
            <a:r>
              <a:rPr sz="2475" b="0">
                <a:solidFill>
                  <a:srgbClr val="6F8196"/>
                </a:solidFill>
              </a:rPr>
              <a:t>The standalone web app remains the first public path. Product DevNet lets Dotify test a more native, less centralized way to distribute the same shared-listening experience.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544e167674886"/>
          <a:srcRect xmlns:a="http://schemas.openxmlformats.org/drawingml/2006/main" l="1120" t="0" r="11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33625" y="6096000"/>
            <a:ext cx="9239250" cy="5191125"/>
          </a:xfrm>
          <a:prstGeom xmlns:a="http://schemas.openxmlformats.org/drawingml/2006/main" prst="roundRect">
            <a:avLst>
              <a:gd name="adj" fmla="val 440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C0E28-564F-427F-8D79-F3EA9E05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62388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E5A0"/>
                </a:solidFill>
              </a:defRPr>
            </a:pPr>
            <a:r>
              <a:rPr sz="2625" b="1">
                <a:solidFill>
                  <a:srgbClr val="00E5A0"/>
                </a:solidFill>
              </a:rPr>
              <a:t>Live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CCC4C-FC1F-4566-BCB2-93DF87FE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68294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F8196"/>
                </a:solidFill>
              </a:defRPr>
            </a:pPr>
            <a:r>
              <a:rPr sz="2400" b="0">
                <a:solidFill>
                  <a:srgbClr val="6F8196"/>
                </a:solidFill>
              </a:rPr>
              <a:t>dotify-test01.dot through Bulletin and DotNS.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AB8AA-9CA6-4860-A6DF-5B71FA3A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7591425"/>
            <a:ext cx="762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A6F88B-FA86-4153-960D-6676C46A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78771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6007A"/>
                </a:solidFill>
              </a:defRPr>
            </a:pPr>
            <a:r>
              <a:rPr sz="2625" b="1">
                <a:solidFill>
                  <a:srgbClr val="E6007A"/>
                </a:solidFill>
              </a:rPr>
              <a:t>Being proven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D4C437-D195-46FA-81BF-75B510E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84677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F8196"/>
                </a:solidFill>
              </a:defRPr>
            </a:pPr>
            <a:r>
              <a:rPr sz="2400" b="0">
                <a:solidFill>
                  <a:srgbClr val="6F8196"/>
                </a:solidFill>
              </a:rPr>
              <a:t>Product-native signatures and contract writes.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C44FF-FD1D-4A45-91E6-1D49A429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9229725"/>
            <a:ext cx="7620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96FA6-F438-4132-B3E5-B9501183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9515475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B87912"/>
                </a:solidFill>
              </a:defRPr>
            </a:pPr>
            <a:r>
              <a:rPr sz="2625" b="1">
                <a:solidFill>
                  <a:srgbClr val="B87912"/>
                </a:solidFill>
              </a:rPr>
              <a:t>Known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63D32-DF36-4C5A-A33F-C5854B07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101060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F8196"/>
                </a:solidFill>
              </a:defRPr>
            </a:pPr>
            <a:r>
              <a:rPr sz="2400" b="0">
                <a:solidFill>
                  <a:srgbClr val="6F8196"/>
                </a:solidFill>
              </a:rPr>
              <a:t>Mobile host WebRTC support depends on host capabilities.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0A4846-5233-4247-B056-2EACDB03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11144250"/>
            <a:ext cx="77152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B2341"/>
          </a:solidFill>
          <a:ln xmlns:a="http://schemas.openxmlformats.org/drawingml/2006/main" w="28575">
            <a:solidFill>
              <a:srgbClr val="0B23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40FC0-8C7E-4846-8608-7FD44579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113823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Goal: infrastructure becomes trust.</a:t>
            </a:r>
          </a:p>
        </p:txBody>
      </p:sp>
    </p:spTree>
    <p:extLst>
      <p:ext uri="{BB962C8B-B14F-4D97-AF65-F5344CB8AC3E}">
        <p14:creationId xmlns:p14="http://schemas.microsoft.com/office/powerpoint/2010/main" val="2005230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B0889B-CF5B-4106-8F53-2F93B7EA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428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172A"/>
                </a:solidFill>
              </a:defRPr>
            </a:pPr>
            <a:r>
              <a:rPr sz="2025" b="1">
                <a:solidFill>
                  <a:srgbClr val="08172A"/>
                </a:solidFill>
              </a:rPr>
              <a:t>Protocol Builders Program  •  Polkadot Blockchain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EEA0C-7634-4A0F-916F-32EE771D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0" y="1409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8A9DAF"/>
                </a:solidFill>
              </a:defRPr>
            </a:pPr>
            <a:r>
              <a:rPr sz="2025" b="1">
                <a:solidFill>
                  <a:srgbClr val="8A9DAF"/>
                </a:solidFill>
              </a:rPr>
              <a:t>ALUMNI PROJECT SHOWCASE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9B4ED-D11B-493C-8C17-BD85BD37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33600"/>
            <a:ext cx="2028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CDCB5-1FDD-45CE-8180-439FD6BB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93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Dotify · Kevin Nzeng Essimengane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D2CCF-C23D-4F6D-A3B2-EF13131B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12934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9AAABD"/>
                </a:solidFill>
              </a:defRPr>
            </a:pPr>
            <a:r>
              <a:rPr sz="1650" b="0">
                <a:solidFill>
                  <a:srgbClr val="9AAABD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8E320-4671-4A57-9535-6A5F32A0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2573000"/>
            <a:ext cx="2028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2"/>
          </a:solidFill>
          <a:ln xmlns:a="http://schemas.openxmlformats.org/drawingml/2006/main" w="0">
            <a:solidFill>
              <a:srgbClr val="DFE8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CAA2C-0383-4C2A-A3FA-790DD4FF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57500"/>
            <a:ext cx="1314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8172A"/>
                </a:solidFill>
              </a:defRPr>
            </a:pPr>
            <a:r>
              <a:rPr sz="5400" b="1">
                <a:solidFill>
                  <a:srgbClr val="08172A"/>
                </a:solidFill>
              </a:rPr>
              <a:t>What comes next is depth, not noise.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B70DF-A834-47CE-B2F7-685B742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95800"/>
            <a:ext cx="1952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D5B93-CBFE-4BAA-A900-A941D59E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3870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E5A0"/>
                </a:solidFill>
              </a:defRPr>
            </a:pPr>
            <a:r>
              <a:rPr sz="2100" b="1">
                <a:solidFill>
                  <a:srgbClr val="00E5A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09A0F-04A5-4843-A901-7204617A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625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172A"/>
                </a:solidFill>
              </a:defRPr>
            </a:pPr>
            <a:r>
              <a:rPr sz="3150" b="1">
                <a:solidFill>
                  <a:srgbClr val="08172A"/>
                </a:solidFill>
              </a:rPr>
              <a:t>Reliable public rooms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176A5-A511-40C5-BAC3-8D7C0F3B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0060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F8196"/>
                </a:solidFill>
              </a:defRPr>
            </a:pPr>
            <a:r>
              <a:rPr sz="2250" b="0">
                <a:solidFill>
                  <a:srgbClr val="6F8196"/>
                </a:solidFill>
              </a:rPr>
              <a:t>First sound should be fast and stable across real browsers, gateways and mobile contexts.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EF734-1004-440C-95F8-EB2E6E71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067425"/>
            <a:ext cx="1952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F6A82-7619-4AC0-9C6A-F1FAF78A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1032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6007A"/>
                </a:solidFill>
              </a:defRPr>
            </a:pPr>
            <a:r>
              <a:rPr sz="2100" b="1">
                <a:solidFill>
                  <a:srgbClr val="E6007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B3E04-F941-4FE2-890E-0D8F723D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33412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172A"/>
                </a:solidFill>
              </a:defRPr>
            </a:pPr>
            <a:r>
              <a:rPr sz="3150" b="1">
                <a:solidFill>
                  <a:srgbClr val="08172A"/>
                </a:solidFill>
              </a:rPr>
              <a:t>Product-native value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11AC0-0568-4F9D-86A2-735E8C1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72225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F8196"/>
                </a:solidFill>
              </a:defRPr>
            </a:pPr>
            <a:r>
              <a:rPr sz="2250" b="0">
                <a:solidFill>
                  <a:srgbClr val="6F8196"/>
                </a:solidFill>
              </a:rPr>
              <a:t>Classic support, royalty splits and DOT-related actions should move through the Product host when supported.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D9FBF-E432-4C81-B8E6-B35EE9A9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39050"/>
            <a:ext cx="1952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1777C8-916F-4B7F-94BF-EFF0EBCE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981950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E5A0"/>
                </a:solidFill>
              </a:defRPr>
            </a:pPr>
            <a:r>
              <a:rPr sz="2100" b="1">
                <a:solidFill>
                  <a:srgbClr val="00E5A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8118A-63FD-42AA-9E81-0AE5D15E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7905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172A"/>
                </a:solidFill>
              </a:defRPr>
            </a:pPr>
            <a:r>
              <a:rPr sz="3150" b="1">
                <a:solidFill>
                  <a:srgbClr val="08172A"/>
                </a:solidFill>
              </a:rPr>
              <a:t>Human-aware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6D49D-9027-46CF-A1D6-2EEFF4EE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9438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F8196"/>
                </a:solidFill>
              </a:defRPr>
            </a:pPr>
            <a:r>
              <a:rPr sz="2250" b="0">
                <a:solidFill>
                  <a:srgbClr val="6F8196"/>
                </a:solidFill>
              </a:rPr>
              <a:t>Personhood can open free cultural access, but only with privacy and dignity preserved.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2A7ED-5DA0-4B1B-BD12-9C219C3A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9210675"/>
            <a:ext cx="1952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70A00-C996-4693-BC44-9FF13E1F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9553575"/>
            <a:ext cx="80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6007A"/>
                </a:solidFill>
              </a:defRPr>
            </a:pPr>
            <a:r>
              <a:rPr sz="2100" b="1">
                <a:solidFill>
                  <a:srgbClr val="E6007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80644-0943-40C2-A271-E3D7FF5A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477375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8172A"/>
                </a:solidFill>
              </a:defRPr>
            </a:pPr>
            <a:r>
              <a:rPr sz="3150" b="1">
                <a:solidFill>
                  <a:srgbClr val="08172A"/>
                </a:solidFill>
              </a:rPr>
              <a:t>Ambassador transmission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63ADC-4335-4564-A31B-B57449E3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9515475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F8196"/>
                </a:solidFill>
              </a:defRPr>
            </a:pPr>
            <a:r>
              <a:rPr sz="2250" b="0">
                <a:solidFill>
                  <a:srgbClr val="6F8196"/>
                </a:solidFill>
              </a:rPr>
              <a:t>Reward people who help music travel with care, not empty referral mechanics.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43B96-FDC0-4D7B-B7B3-96EF5C1E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0839450"/>
            <a:ext cx="18097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B2341"/>
          </a:solidFill>
          <a:ln xmlns:a="http://schemas.openxmlformats.org/drawingml/2006/main" w="28575">
            <a:solidFill>
              <a:srgbClr val="0B23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3E82E8-0AC8-4D40-BEDC-E0417A72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096625"/>
            <a:ext cx="1562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Music as shared social infrastructure, with artists in control.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64259d3e947d1"/>
          <a:stretch xmlns:a="http://schemas.openxmlformats.org/drawingml/2006/main"/>
        </p:blipFill>
        <p:spPr>
          <a:xfrm xmlns:a="http://schemas.openxmlformats.org/drawingml/2006/main">
            <a:off x="19335750" y="11010900"/>
            <a:ext cx="647700" cy="647700"/>
          </a:xfrm>
          <a:prstGeom xmlns:a="http://schemas.openxmlformats.org/drawingml/2006/main" prst="roundRect">
            <a:avLst>
              <a:gd name="adj" fmla="val 22059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ED971-33A4-4021-920E-B4B9B074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20777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6007A"/>
                </a:solidFill>
              </a:defRPr>
            </a:pPr>
            <a:r>
              <a:rPr sz="2025" b="1">
                <a:solidFill>
                  <a:srgbClr val="E6007A"/>
                </a:solidFill>
              </a:rPr>
              <a:t>github.com/knzeng-e/dotify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92CA45-2955-4EE2-9AC7-2BD06992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0777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E5A0"/>
                </a:solidFill>
              </a:defRPr>
            </a:pPr>
            <a:r>
              <a:rPr sz="2025" b="1">
                <a:solidFill>
                  <a:srgbClr val="00E5A0"/>
                </a:solidFill>
              </a:rPr>
              <a:t>dotify-test01.dev-dot.li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772C1B-8F0D-4E74-A4DF-39D918AC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120777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172A"/>
                </a:solidFill>
              </a:defRPr>
            </a:pPr>
            <a:r>
              <a:rPr sz="2025" b="1">
                <a:solidFill>
                  <a:srgbClr val="08172A"/>
                </a:solidFill>
              </a:rPr>
              <a:t>Kevin Nzeng Essimengane</a:t>
            </a:r>
          </a:p>
        </p:txBody>
      </p:sp>
    </p:spTree>
    <p:extLst>
      <p:ext uri="{BB962C8B-B14F-4D97-AF65-F5344CB8AC3E}">
        <p14:creationId xmlns:p14="http://schemas.microsoft.com/office/powerpoint/2010/main" val="650666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2026-09-02T08:23:41.6190000Z</dcterms:created>
  <dcterms:modified xsi:type="dcterms:W3CDTF">2026-09-02T08:23:41.6190000Z</dcterms:modified>
</coreProperties>
</file>